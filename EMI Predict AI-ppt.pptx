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71" r:id="rId6"/>
    <p:sldId id="276" r:id="rId7"/>
    <p:sldId id="272" r:id="rId8"/>
    <p:sldId id="273" r:id="rId9"/>
    <p:sldId id="277" r:id="rId10"/>
    <p:sldId id="274" r:id="rId11"/>
    <p:sldId id="257" r:id="rId12"/>
    <p:sldId id="270" r:id="rId13"/>
    <p:sldId id="262" r:id="rId14"/>
    <p:sldId id="263" r:id="rId15"/>
    <p:sldId id="275" r:id="rId16"/>
    <p:sldId id="278" r:id="rId17"/>
    <p:sldId id="266" r:id="rId18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0856" autoAdjust="0"/>
  </p:normalViewPr>
  <p:slideViewPr>
    <p:cSldViewPr>
      <p:cViewPr varScale="1">
        <p:scale>
          <a:sx n="61" d="100"/>
          <a:sy n="61" d="100"/>
        </p:scale>
        <p:origin x="102" y="96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enn1" loCatId="relationship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77D14C5-CED9-4CFC-B338-DFB0C8090B9F}">
      <dgm:prSet phldrT="[Text]"/>
      <dgm:spPr/>
      <dgm:t>
        <a:bodyPr/>
        <a:lstStyle/>
        <a:p>
          <a:r>
            <a:rPr lang="en-US"/>
            <a:t>Classification</a:t>
          </a:r>
          <a:endParaRPr lang="en-US" dirty="0"/>
        </a:p>
      </dgm:t>
    </dgm:pt>
    <dgm:pt modelId="{92DFCBC7-BC14-4697-8ECD-BF0D5B1EDA3B}" type="parTrans" cxnId="{7D461F02-AB37-447A-AC6B-D31C4D2EC6A9}">
      <dgm:prSet/>
      <dgm:spPr/>
      <dgm:t>
        <a:bodyPr/>
        <a:lstStyle/>
        <a:p>
          <a:endParaRPr lang="en-US"/>
        </a:p>
      </dgm:t>
    </dgm:pt>
    <dgm:pt modelId="{87E3C0DB-7BEE-424E-8E11-B838D238D595}" type="sibTrans" cxnId="{7D461F02-AB37-447A-AC6B-D31C4D2EC6A9}">
      <dgm:prSet/>
      <dgm:spPr/>
      <dgm:t>
        <a:bodyPr/>
        <a:lstStyle/>
        <a:p>
          <a:endParaRPr lang="en-US"/>
        </a:p>
      </dgm:t>
    </dgm:pt>
    <dgm:pt modelId="{3C67E77D-62FA-499D-B5E6-E79A091C5267}">
      <dgm:prSet phldrT="[Text]"/>
      <dgm:spPr/>
      <dgm:t>
        <a:bodyPr/>
        <a:lstStyle/>
        <a:p>
          <a:r>
            <a:rPr lang="en-IN"/>
            <a:t>Regression</a:t>
          </a:r>
          <a:endParaRPr lang="en-US" dirty="0"/>
        </a:p>
      </dgm:t>
    </dgm:pt>
    <dgm:pt modelId="{5337D229-E330-4525-B0FA-14EC5A80604A}" type="parTrans" cxnId="{3E7889DF-460B-4985-BC99-8220CB2522FF}">
      <dgm:prSet/>
      <dgm:spPr/>
      <dgm:t>
        <a:bodyPr/>
        <a:lstStyle/>
        <a:p>
          <a:endParaRPr lang="en-US"/>
        </a:p>
      </dgm:t>
    </dgm:pt>
    <dgm:pt modelId="{C056AC5D-B04E-4376-A1CB-3EAB7BE5AF5B}" type="sibTrans" cxnId="{3E7889DF-460B-4985-BC99-8220CB2522FF}">
      <dgm:prSet/>
      <dgm:spPr/>
      <dgm:t>
        <a:bodyPr/>
        <a:lstStyle/>
        <a:p>
          <a:endParaRPr lang="en-US"/>
        </a:p>
      </dgm:t>
    </dgm:pt>
    <dgm:pt modelId="{E16D65B4-494C-45C0-82F5-A63E581063CB}" type="pres">
      <dgm:prSet presAssocID="{90119837-5B71-4D44-BB01-DB0B084933C8}" presName="compositeShape" presStyleCnt="0">
        <dgm:presLayoutVars>
          <dgm:chMax val="7"/>
          <dgm:dir/>
          <dgm:resizeHandles val="exact"/>
        </dgm:presLayoutVars>
      </dgm:prSet>
      <dgm:spPr/>
    </dgm:pt>
    <dgm:pt modelId="{7A12B315-EA92-4E8C-914E-FCF8B923D9BA}" type="pres">
      <dgm:prSet presAssocID="{477D14C5-CED9-4CFC-B338-DFB0C8090B9F}" presName="circ1" presStyleLbl="vennNode1" presStyleIdx="0" presStyleCnt="2"/>
      <dgm:spPr/>
    </dgm:pt>
    <dgm:pt modelId="{1114C5CF-9DB7-4B7A-9D02-B353869E5D38}" type="pres">
      <dgm:prSet presAssocID="{477D14C5-CED9-4CFC-B338-DFB0C8090B9F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3469E5A2-93C2-49EF-825C-26E5802651A1}" type="pres">
      <dgm:prSet presAssocID="{3C67E77D-62FA-499D-B5E6-E79A091C5267}" presName="circ2" presStyleLbl="vennNode1" presStyleIdx="1" presStyleCnt="2"/>
      <dgm:spPr/>
    </dgm:pt>
    <dgm:pt modelId="{EB02C228-AFBE-4EA8-ADAD-5E115CB980C7}" type="pres">
      <dgm:prSet presAssocID="{3C67E77D-62FA-499D-B5E6-E79A091C5267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7D461F02-AB37-447A-AC6B-D31C4D2EC6A9}" srcId="{90119837-5B71-4D44-BB01-DB0B084933C8}" destId="{477D14C5-CED9-4CFC-B338-DFB0C8090B9F}" srcOrd="0" destOrd="0" parTransId="{92DFCBC7-BC14-4697-8ECD-BF0D5B1EDA3B}" sibTransId="{87E3C0DB-7BEE-424E-8E11-B838D238D595}"/>
    <dgm:cxn modelId="{25C8D00E-7E96-4A36-A375-D219ADDEF7E1}" type="presOf" srcId="{90119837-5B71-4D44-BB01-DB0B084933C8}" destId="{E16D65B4-494C-45C0-82F5-A63E581063CB}" srcOrd="0" destOrd="0" presId="urn:microsoft.com/office/officeart/2005/8/layout/venn1"/>
    <dgm:cxn modelId="{EE8F5E70-A0F4-4F2B-BA51-A41561A839B8}" type="presOf" srcId="{3C67E77D-62FA-499D-B5E6-E79A091C5267}" destId="{EB02C228-AFBE-4EA8-ADAD-5E115CB980C7}" srcOrd="1" destOrd="0" presId="urn:microsoft.com/office/officeart/2005/8/layout/venn1"/>
    <dgm:cxn modelId="{F105CF57-28A8-4330-9B82-A27580A75316}" type="presOf" srcId="{3C67E77D-62FA-499D-B5E6-E79A091C5267}" destId="{3469E5A2-93C2-49EF-825C-26E5802651A1}" srcOrd="0" destOrd="0" presId="urn:microsoft.com/office/officeart/2005/8/layout/venn1"/>
    <dgm:cxn modelId="{DC77348F-2652-453F-B122-19045A3FA24E}" type="presOf" srcId="{477D14C5-CED9-4CFC-B338-DFB0C8090B9F}" destId="{1114C5CF-9DB7-4B7A-9D02-B353869E5D38}" srcOrd="1" destOrd="0" presId="urn:microsoft.com/office/officeart/2005/8/layout/venn1"/>
    <dgm:cxn modelId="{C416619F-678B-4475-B24A-2B2E9B9E1619}" type="presOf" srcId="{477D14C5-CED9-4CFC-B338-DFB0C8090B9F}" destId="{7A12B315-EA92-4E8C-914E-FCF8B923D9BA}" srcOrd="0" destOrd="0" presId="urn:microsoft.com/office/officeart/2005/8/layout/venn1"/>
    <dgm:cxn modelId="{3E7889DF-460B-4985-BC99-8220CB2522FF}" srcId="{90119837-5B71-4D44-BB01-DB0B084933C8}" destId="{3C67E77D-62FA-499D-B5E6-E79A091C5267}" srcOrd="1" destOrd="0" parTransId="{5337D229-E330-4525-B0FA-14EC5A80604A}" sibTransId="{C056AC5D-B04E-4376-A1CB-3EAB7BE5AF5B}"/>
    <dgm:cxn modelId="{02CA800B-6006-438A-84E3-C48B9CBC1210}" type="presParOf" srcId="{E16D65B4-494C-45C0-82F5-A63E581063CB}" destId="{7A12B315-EA92-4E8C-914E-FCF8B923D9BA}" srcOrd="0" destOrd="0" presId="urn:microsoft.com/office/officeart/2005/8/layout/venn1"/>
    <dgm:cxn modelId="{F8D73EF5-F005-4F55-924F-3BB050658C25}" type="presParOf" srcId="{E16D65B4-494C-45C0-82F5-A63E581063CB}" destId="{1114C5CF-9DB7-4B7A-9D02-B353869E5D38}" srcOrd="1" destOrd="0" presId="urn:microsoft.com/office/officeart/2005/8/layout/venn1"/>
    <dgm:cxn modelId="{F9F66D1E-A893-4595-8EBF-9364CC258C92}" type="presParOf" srcId="{E16D65B4-494C-45C0-82F5-A63E581063CB}" destId="{3469E5A2-93C2-49EF-825C-26E5802651A1}" srcOrd="2" destOrd="0" presId="urn:microsoft.com/office/officeart/2005/8/layout/venn1"/>
    <dgm:cxn modelId="{CE9CAEBD-5841-4AFB-AF4D-31620018B02F}" type="presParOf" srcId="{E16D65B4-494C-45C0-82F5-A63E581063CB}" destId="{EB02C228-AFBE-4EA8-ADAD-5E115CB980C7}" srcOrd="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12B315-EA92-4E8C-914E-FCF8B923D9BA}">
      <dsp:nvSpPr>
        <dsp:cNvPr id="0" name=""/>
        <dsp:cNvSpPr/>
      </dsp:nvSpPr>
      <dsp:spPr>
        <a:xfrm>
          <a:off x="99441" y="907161"/>
          <a:ext cx="2452878" cy="2452877"/>
        </a:xfrm>
        <a:prstGeom prst="ellipse">
          <a:avLst/>
        </a:prstGeom>
        <a:gradFill rotWithShape="0">
          <a:gsLst>
            <a:gs pos="0">
              <a:schemeClr val="accent2">
                <a:alpha val="50000"/>
                <a:hueOff val="0"/>
                <a:satOff val="0"/>
                <a:lumOff val="0"/>
                <a:alphaOff val="0"/>
              </a:schemeClr>
            </a:gs>
            <a:gs pos="100000">
              <a:schemeClr val="accent2">
                <a:alpha val="50000"/>
                <a:hueOff val="0"/>
                <a:satOff val="0"/>
                <a:lumOff val="0"/>
                <a:alphaOff val="0"/>
                <a:shade val="48000"/>
                <a:satMod val="180000"/>
                <a:lumMod val="94000"/>
              </a:schemeClr>
            </a:gs>
            <a:gs pos="100000">
              <a:schemeClr val="accent2">
                <a:alpha val="50000"/>
                <a:hueOff val="0"/>
                <a:satOff val="0"/>
                <a:lumOff val="0"/>
                <a:alphaOff val="0"/>
                <a:shade val="48000"/>
                <a:satMod val="180000"/>
                <a:lumMod val="94000"/>
              </a:schemeClr>
            </a:gs>
          </a:gsLst>
          <a:lin ang="414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Classification</a:t>
          </a:r>
          <a:endParaRPr lang="en-US" sz="1700" kern="1200" dirty="0"/>
        </a:p>
      </dsp:txBody>
      <dsp:txXfrm>
        <a:off x="441960" y="1196408"/>
        <a:ext cx="1414272" cy="1874383"/>
      </dsp:txXfrm>
    </dsp:sp>
    <dsp:sp modelId="{3469E5A2-93C2-49EF-825C-26E5802651A1}">
      <dsp:nvSpPr>
        <dsp:cNvPr id="0" name=""/>
        <dsp:cNvSpPr/>
      </dsp:nvSpPr>
      <dsp:spPr>
        <a:xfrm>
          <a:off x="1867281" y="907161"/>
          <a:ext cx="2452878" cy="2452877"/>
        </a:xfrm>
        <a:prstGeom prst="ellipse">
          <a:avLst/>
        </a:prstGeom>
        <a:gradFill rotWithShape="0">
          <a:gsLst>
            <a:gs pos="0">
              <a:schemeClr val="accent3">
                <a:alpha val="50000"/>
                <a:hueOff val="0"/>
                <a:satOff val="0"/>
                <a:lumOff val="0"/>
                <a:alphaOff val="0"/>
              </a:schemeClr>
            </a:gs>
            <a:gs pos="100000">
              <a:schemeClr val="accent3">
                <a:alpha val="50000"/>
                <a:hueOff val="0"/>
                <a:satOff val="0"/>
                <a:lumOff val="0"/>
                <a:alphaOff val="0"/>
                <a:shade val="48000"/>
                <a:satMod val="180000"/>
                <a:lumMod val="94000"/>
              </a:schemeClr>
            </a:gs>
            <a:gs pos="100000">
              <a:schemeClr val="accent3">
                <a:alpha val="50000"/>
                <a:hueOff val="0"/>
                <a:satOff val="0"/>
                <a:lumOff val="0"/>
                <a:alphaOff val="0"/>
                <a:shade val="48000"/>
                <a:satMod val="180000"/>
                <a:lumMod val="94000"/>
              </a:schemeClr>
            </a:gs>
          </a:gsLst>
          <a:lin ang="414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Regression</a:t>
          </a:r>
          <a:endParaRPr lang="en-US" sz="1700" kern="1200" dirty="0"/>
        </a:p>
      </dsp:txBody>
      <dsp:txXfrm>
        <a:off x="2563368" y="1196408"/>
        <a:ext cx="1414272" cy="18743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482589-CB2F-4003-801D-095B67490E73}" type="datetimeFigureOut">
              <a:rPr lang="en-US"/>
              <a:t>4/24/2026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A4844B-5D5D-4D8E-9E71-6B297DF4019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589861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7D4DBF-746C-4C25-853D-8A1CBE8404F4}" type="datetimeFigureOut">
              <a:rPr lang="en-US"/>
              <a:t>4/24/2026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E0FDE7-FE71-46E3-9512-437B13AD5F4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6979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4812" y="1524000"/>
            <a:ext cx="8839201" cy="32004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4813" y="4876800"/>
            <a:ext cx="7162799" cy="990600"/>
          </a:xfrm>
        </p:spPr>
        <p:txBody>
          <a:bodyPr lIns="91440">
            <a:normAutofit/>
          </a:bodyPr>
          <a:lstStyle>
            <a:lvl1pPr marL="0" indent="0" algn="l">
              <a:spcBef>
                <a:spcPts val="0"/>
              </a:spcBef>
              <a:buNone/>
              <a:defRPr sz="2000" cap="all" spc="250" baseline="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887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881DC1F7-A9E9-4D8B-8C97-C74523B2CF2A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299542E4-2CCF-42F6-9D92-ED56803513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086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3" y="3429000"/>
            <a:ext cx="9601201" cy="2286000"/>
          </a:xfrm>
        </p:spPr>
        <p:txBody>
          <a:bodyPr anchor="b">
            <a:normAutofit/>
          </a:bodyPr>
          <a:lstStyle>
            <a:lvl1pPr algn="l">
              <a:defRPr sz="48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685800"/>
            <a:ext cx="7543800" cy="1066800"/>
          </a:xfrm>
        </p:spPr>
        <p:txBody>
          <a:bodyPr lIns="91440" anchor="t"/>
          <a:lstStyle>
            <a:lvl1pPr marL="0" indent="0">
              <a:spcBef>
                <a:spcPts val="0"/>
              </a:spcBef>
              <a:buNone/>
              <a:defRPr sz="2000" cap="all" spc="250" baseline="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881DC1F7-A9E9-4D8B-8C97-C74523B2CF2A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299542E4-2CCF-42F6-9D92-ED56803513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889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3813" y="1828800"/>
            <a:ext cx="4648199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2" y="1828801"/>
            <a:ext cx="4648202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881DC1F7-A9E9-4D8B-8C97-C74523B2CF2A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299542E4-2CCF-42F6-9D92-ED56803513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78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1676400"/>
            <a:ext cx="4646376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3813" y="2438400"/>
            <a:ext cx="4648199" cy="3733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6812" y="1676400"/>
            <a:ext cx="4648201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6812" y="2438400"/>
            <a:ext cx="4648201" cy="3733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881DC1F7-A9E9-4D8B-8C97-C74523B2CF2A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299542E4-2CCF-42F6-9D92-ED56803513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692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881DC1F7-A9E9-4D8B-8C97-C74523B2CF2A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299542E4-2CCF-42F6-9D92-ED56803513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311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881DC1F7-A9E9-4D8B-8C97-C74523B2CF2A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299542E4-2CCF-42F6-9D92-ED56803513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631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608012" y="0"/>
            <a:ext cx="4883563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99452" y="0"/>
            <a:ext cx="4700684" cy="6858000"/>
          </a:xfrm>
          <a:prstGeom prst="rect">
            <a:avLst/>
          </a:prstGeom>
          <a:solidFill>
            <a:schemeClr val="accent2">
              <a:lumMod val="75000"/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3" y="685800"/>
            <a:ext cx="3581400" cy="38862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3" y="4724400"/>
            <a:ext cx="3581400" cy="1401764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4413" y="685800"/>
            <a:ext cx="5484970" cy="5486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881DC1F7-A9E9-4D8B-8C97-C74523B2CF2A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299542E4-2CCF-42F6-9D92-ED56803513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575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608012" y="0"/>
            <a:ext cx="4883563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9452" y="0"/>
            <a:ext cx="4700684" cy="6858000"/>
          </a:xfrm>
          <a:prstGeom prst="rect">
            <a:avLst/>
          </a:prstGeom>
          <a:solidFill>
            <a:schemeClr val="accent2">
              <a:lumMod val="75000"/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3" y="685800"/>
            <a:ext cx="3581400" cy="38862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3" y="4724400"/>
            <a:ext cx="3581400" cy="1401764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&#10;"/>
          <p:cNvSpPr>
            <a:spLocks noGrp="1"/>
          </p:cNvSpPr>
          <p:nvPr>
            <p:ph type="pic" idx="1"/>
          </p:nvPr>
        </p:nvSpPr>
        <p:spPr>
          <a:xfrm>
            <a:off x="6094413" y="685800"/>
            <a:ext cx="5486400" cy="5486400"/>
          </a:xfrm>
          <a:solidFill>
            <a:schemeClr val="tx2">
              <a:lumMod val="10000"/>
            </a:schemeClr>
          </a:solidFill>
          <a:ln w="50800">
            <a:solidFill>
              <a:schemeClr val="tx1"/>
            </a:solidFill>
            <a:miter lim="800000"/>
          </a:ln>
          <a:effectLst>
            <a:outerShdw blurRad="19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881DC1F7-A9E9-4D8B-8C97-C74523B2CF2A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299542E4-2CCF-42F6-9D92-ED56803513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934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lternate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5393372" y="0"/>
            <a:ext cx="67954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4812" y="0"/>
            <a:ext cx="6704012" cy="6858000"/>
          </a:xfrm>
          <a:prstGeom prst="rect">
            <a:avLst/>
          </a:prstGeom>
          <a:solidFill>
            <a:schemeClr val="accent2">
              <a:lumMod val="75000"/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3" y="685800"/>
            <a:ext cx="4267200" cy="38862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013" y="4724400"/>
            <a:ext cx="4267200" cy="14478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&#10;"/>
          <p:cNvSpPr>
            <a:spLocks noGrp="1"/>
          </p:cNvSpPr>
          <p:nvPr>
            <p:ph type="pic" idx="1"/>
          </p:nvPr>
        </p:nvSpPr>
        <p:spPr>
          <a:xfrm>
            <a:off x="6094413" y="685800"/>
            <a:ext cx="5486400" cy="5486400"/>
          </a:xfrm>
          <a:solidFill>
            <a:schemeClr val="tx2">
              <a:lumMod val="10000"/>
            </a:schemeClr>
          </a:solidFill>
          <a:ln w="50800">
            <a:solidFill>
              <a:schemeClr val="tx1"/>
            </a:solidFill>
            <a:miter lim="800000"/>
          </a:ln>
          <a:effectLst>
            <a:outerShdw blurRad="19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881DC1F7-A9E9-4D8B-8C97-C74523B2CF2A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299542E4-2CCF-42F6-9D92-ED56803513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36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881DC1F7-A9E9-4D8B-8C97-C74523B2CF2A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299542E4-2CCF-42F6-9D92-ED56803513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99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75812" y="685801"/>
            <a:ext cx="1219201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3813" y="685800"/>
            <a:ext cx="8153399" cy="54864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881DC1F7-A9E9-4D8B-8C97-C74523B2CF2A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299542E4-2CCF-42F6-9D92-ED56803513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202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3812" y="3810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4" y="1828800"/>
            <a:ext cx="96012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38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99412" y="6400801"/>
            <a:ext cx="13200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1DC1F7-A9E9-4D8B-8C97-C74523B2CF2A}" type="datetimeFigureOut">
              <a:rPr lang="en-US"/>
              <a:pPr/>
              <a:t>4/24/2026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75812" y="6400801"/>
            <a:ext cx="12192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542E4-2CCF-42F6-9D92-ED568035133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082099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2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6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800"/>
        </a:spcBef>
        <a:buFont typeface="Century" pitchFamily="18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indent="-22860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25880" indent="-22860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91640" indent="-22860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spcBef>
          <a:spcPts val="6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23160" indent="-228600" algn="l" defTabSz="914400" rtl="0" eaLnBrk="1" latinLnBrk="0" hangingPunct="1">
        <a:spcBef>
          <a:spcPts val="6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28600" algn="l" defTabSz="914400" rtl="0" eaLnBrk="1" latinLnBrk="0" hangingPunct="1">
        <a:spcBef>
          <a:spcPts val="6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54680" indent="-228600" algn="l" defTabSz="914400" rtl="0" eaLnBrk="1" latinLnBrk="0" hangingPunct="1">
        <a:spcBef>
          <a:spcPts val="6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or.nightcafe.studio/gallery/thank-you-stock-image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EMI Predict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4813" y="4876800"/>
            <a:ext cx="8610599" cy="685800"/>
          </a:xfrm>
        </p:spPr>
        <p:txBody>
          <a:bodyPr>
            <a:normAutofit/>
          </a:bodyPr>
          <a:lstStyle/>
          <a:p>
            <a:r>
              <a:rPr lang="en-US" dirty="0"/>
              <a:t>Intelligent Financial Risk Assessment Platform</a:t>
            </a:r>
            <a:endParaRPr lang="en-US" dirty="0">
              <a:solidFill>
                <a:srgbClr val="96B8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0820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Issues: Borrowers often face financial distress due to poor planning; traditional underwriting is slow and </a:t>
            </a:r>
            <a:r>
              <a:rPr lang="en-US" dirty="0" err="1"/>
              <a:t>manual.Add</a:t>
            </a:r>
            <a:r>
              <a:rPr lang="en-US" dirty="0"/>
              <a:t> your first bullet point here</a:t>
            </a:r>
          </a:p>
          <a:p>
            <a:r>
              <a:rPr lang="en-US" b="1" dirty="0"/>
              <a:t>The Goal:</a:t>
            </a:r>
            <a:r>
              <a:rPr lang="en-US" dirty="0"/>
              <a:t> Build an automated, real-time platform to assess 400,000 profiles across 5 EMI scenarios (E-commerce, Home, Vehicle, Personal, Education).</a:t>
            </a:r>
          </a:p>
        </p:txBody>
      </p:sp>
    </p:spTree>
    <p:extLst>
      <p:ext uri="{BB962C8B-B14F-4D97-AF65-F5344CB8AC3E}">
        <p14:creationId xmlns:p14="http://schemas.microsoft.com/office/powerpoint/2010/main" val="3970798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509E4-4FB8-2518-7E23-0484C0F5D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5DA1DC3-5334-9B0C-5804-5702F28CB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Architecture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1FFCBC4-866C-A582-CE0B-9F06BE997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Pipeline Flow: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Data Preprocessing (400k records)</a:t>
            </a:r>
          </a:p>
          <a:p>
            <a:pPr lvl="1"/>
            <a:r>
              <a:rPr lang="en-US" dirty="0"/>
              <a:t>Feature Engineering (22 variables)</a:t>
            </a:r>
          </a:p>
          <a:p>
            <a:pPr lvl="1"/>
            <a:r>
              <a:rPr lang="en-US" dirty="0" err="1"/>
              <a:t>MLflow</a:t>
            </a:r>
            <a:r>
              <a:rPr lang="en-US" dirty="0"/>
              <a:t> Experiment Tracking (Model Selection)</a:t>
            </a:r>
          </a:p>
          <a:p>
            <a:pPr lvl="1"/>
            <a:r>
              <a:rPr lang="en-US" dirty="0" err="1"/>
              <a:t>Streamlit</a:t>
            </a:r>
            <a:r>
              <a:rPr lang="en-US" dirty="0"/>
              <a:t> Cloud Deployment</a:t>
            </a:r>
          </a:p>
        </p:txBody>
      </p:sp>
    </p:spTree>
    <p:extLst>
      <p:ext uri="{BB962C8B-B14F-4D97-AF65-F5344CB8AC3E}">
        <p14:creationId xmlns:p14="http://schemas.microsoft.com/office/powerpoint/2010/main" val="4136887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Processing &amp; EDA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D858C4C9-140C-A9E7-A449-861ECD2624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9012" y="2514600"/>
            <a:ext cx="10210799" cy="2870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Dataset Scale: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400,000 records.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Quality Checks: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altLang="en-US" sz="2000" dirty="0"/>
              <a:t>Resolved mixed-type warnings and fixed "bad lines" (tokenization issues). Show the correlation between </a:t>
            </a:r>
            <a:r>
              <a:rPr lang="en-US" altLang="en-US" sz="2000" dirty="0" err="1"/>
              <a:t>credit_score</a:t>
            </a:r>
            <a:r>
              <a:rPr lang="en-US" altLang="en-US" sz="2000" dirty="0"/>
              <a:t> and </a:t>
            </a:r>
            <a:r>
              <a:rPr lang="en-US" altLang="en-US" sz="2000" dirty="0" err="1"/>
              <a:t>emi_eligibility</a:t>
            </a:r>
            <a:r>
              <a:rPr lang="en-US" altLang="en-US" sz="2000" dirty="0"/>
              <a:t>. Mention the use of the </a:t>
            </a:r>
            <a:r>
              <a:rPr lang="en-US" altLang="en-US" sz="2000" dirty="0" err="1"/>
              <a:t>df</a:t>
            </a:r>
            <a:r>
              <a:rPr lang="en-US" altLang="en-US" sz="2000" dirty="0"/>
              <a:t> variable for data handling.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Key Findings: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700091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9197" y="457200"/>
            <a:ext cx="3505200" cy="1143000"/>
          </a:xfrm>
        </p:spPr>
        <p:txBody>
          <a:bodyPr anchor="b">
            <a:normAutofit/>
          </a:bodyPr>
          <a:lstStyle/>
          <a:p>
            <a:r>
              <a:rPr lang="en-US" dirty="0"/>
              <a:t>EDA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8CA504F-FAD2-F009-E015-893ECB1F2FB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78381" y="202929"/>
            <a:ext cx="5310837" cy="2642141"/>
          </a:xfrm>
          <a:prstGeom prst="rect">
            <a:avLst/>
          </a:prstGeom>
          <a:noFill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48A1DA8-2159-C3C1-8FCF-D6CFEC97F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435" y="3202662"/>
            <a:ext cx="5135783" cy="36453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558CF5-C57D-8165-B024-245C0607D1B9}"/>
              </a:ext>
            </a:extLst>
          </p:cNvPr>
          <p:cNvSpPr txBox="1"/>
          <p:nvPr/>
        </p:nvSpPr>
        <p:spPr>
          <a:xfrm>
            <a:off x="783575" y="3581400"/>
            <a:ext cx="53108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Study correlation between financial variables and loan approval rates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180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E7BA5-21B2-A277-0368-261FFC807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CBA62-5666-F8B2-8ADF-200A76A9E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3" y="685800"/>
            <a:ext cx="3581400" cy="3886200"/>
          </a:xfrm>
        </p:spPr>
        <p:txBody>
          <a:bodyPr anchor="b">
            <a:normAutofit/>
          </a:bodyPr>
          <a:lstStyle/>
          <a:p>
            <a:r>
              <a:rPr lang="en-US" dirty="0"/>
              <a:t>Feature Engineering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E13776C-1A4E-24D7-9EC9-184EB600B0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3813" y="4724400"/>
            <a:ext cx="3581400" cy="1401764"/>
          </a:xfrm>
        </p:spPr>
        <p:txBody>
          <a:bodyPr/>
          <a:lstStyle/>
          <a:p>
            <a:r>
              <a:rPr lang="en-US" dirty="0"/>
              <a:t>Develop interaction features between key financial variables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E09577-3952-D3AC-2365-DC8EB0E75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4413" y="685800"/>
            <a:ext cx="5484970" cy="5486400"/>
          </a:xfrm>
        </p:spPr>
        <p:txBody>
          <a:bodyPr>
            <a:normAutofit/>
          </a:bodyPr>
          <a:lstStyle/>
          <a:p>
            <a:r>
              <a:rPr lang="en-US" dirty="0"/>
              <a:t>Derived Ratio : Debt-to-Income, Expense-to-Income, and Affordability Index.</a:t>
            </a:r>
          </a:p>
          <a:p>
            <a:r>
              <a:rPr lang="en-US" b="1" dirty="0"/>
              <a:t>Calculated Target :</a:t>
            </a:r>
            <a:r>
              <a:rPr lang="en-US" dirty="0"/>
              <a:t> Maximum EMI Capacity (calculated as 40% of disposable income).</a:t>
            </a:r>
            <a:endParaRPr lang="en-US" b="1" dirty="0"/>
          </a:p>
          <a:p>
            <a:r>
              <a:rPr lang="en-US" dirty="0"/>
              <a:t>Scaling </a:t>
            </a:r>
            <a:r>
              <a:rPr lang="en-US" b="1" dirty="0"/>
              <a:t>:</a:t>
            </a:r>
            <a:r>
              <a:rPr lang="en-US" dirty="0"/>
              <a:t> Standard Scaling applied to financial variables for model stability.</a:t>
            </a:r>
          </a:p>
        </p:txBody>
      </p:sp>
    </p:spTree>
    <p:extLst>
      <p:ext uri="{BB962C8B-B14F-4D97-AF65-F5344CB8AC3E}">
        <p14:creationId xmlns:p14="http://schemas.microsoft.com/office/powerpoint/2010/main" val="4098952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MLflow</a:t>
            </a:r>
            <a:r>
              <a:rPr lang="en-US" dirty="0"/>
              <a:t> Experiment Tracking</a:t>
            </a:r>
          </a:p>
        </p:txBody>
      </p:sp>
      <p:graphicFrame>
        <p:nvGraphicFramePr>
          <p:cNvPr id="4" name="Content Placeholder 3" descr="Basic venn - Use to show overlapping or interconnected relationships. The first seven lines of Level 1 text correspond with a circle. If there are four or fewer lines of Level 1 text, the text is inside the circles. If there are more than four lines of Level 1 text, the text is outside of the circles. Unused text does not appear, but remains available if you switch layouts.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58655548"/>
              </p:ext>
            </p:extLst>
          </p:nvPr>
        </p:nvGraphicFramePr>
        <p:xfrm>
          <a:off x="531812" y="1752600"/>
          <a:ext cx="4419600" cy="426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 3">
            <a:extLst>
              <a:ext uri="{FF2B5EF4-FFF2-40B4-BE49-F238E27FC236}">
                <a16:creationId xmlns:a16="http://schemas.microsoft.com/office/drawing/2014/main" id="{EB3B27F0-1C41-89D6-C6C7-BFB3883F7F48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332412" y="1937656"/>
            <a:ext cx="6856413" cy="2531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Classification (Eligibility):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Compared Logistic Regression, Random Forest, and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Regression (Max EMI):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Compared Linear Regression, Random Forest,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Gradient Boosting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Tracking: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Logged hyperparameters and metrics (Accuracy, R2, MAE) for all models.</a:t>
            </a:r>
          </a:p>
        </p:txBody>
      </p:sp>
    </p:spTree>
    <p:extLst>
      <p:ext uri="{BB962C8B-B14F-4D97-AF65-F5344CB8AC3E}">
        <p14:creationId xmlns:p14="http://schemas.microsoft.com/office/powerpoint/2010/main" val="1169932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2" y="381000"/>
            <a:ext cx="9601200" cy="1143000"/>
          </a:xfrm>
        </p:spPr>
        <p:txBody>
          <a:bodyPr anchor="b">
            <a:normAutofit/>
          </a:bodyPr>
          <a:lstStyle/>
          <a:p>
            <a:r>
              <a:rPr lang="en-US" dirty="0"/>
              <a:t>Model Evaluation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247B9DC-26A7-A6BF-12C0-73F52794B3D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93813" y="2983706"/>
            <a:ext cx="4648199" cy="2033587"/>
          </a:xfrm>
          <a:prstGeom prst="rect">
            <a:avLst/>
          </a:prstGeom>
          <a:noFill/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4738F913-0B52-92A1-74D7-F879EE06884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246812" y="1828801"/>
            <a:ext cx="4648202" cy="43434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Classification Results: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Accuracy &gt; 90% using XGBoost.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Regression Results: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Low MAE/RMSE for EMI amount prediction.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Selection: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The best models were registered in the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MLflow Model Registry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for production deployment.</a:t>
            </a:r>
          </a:p>
        </p:txBody>
      </p:sp>
    </p:spTree>
    <p:extLst>
      <p:ext uri="{BB962C8B-B14F-4D97-AF65-F5344CB8AC3E}">
        <p14:creationId xmlns:p14="http://schemas.microsoft.com/office/powerpoint/2010/main" val="232995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</a:t>
            </a:r>
            <a:r>
              <a:rPr lang="en-US" dirty="0" err="1"/>
              <a:t>Trainging</a:t>
            </a:r>
            <a:r>
              <a:rPr lang="en-US" dirty="0"/>
              <a:t> Runs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XG Booster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9E4E679-3504-28C8-E40E-68E95E56200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93813" y="2998632"/>
            <a:ext cx="4648200" cy="2613336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Reg_RandomForest_Regressor</a:t>
            </a:r>
            <a:endParaRPr lang="en-US" dirty="0"/>
          </a:p>
          <a:p>
            <a:br>
              <a:rPr lang="en-US" dirty="0"/>
            </a:b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9C09494-81C6-4C28-8BC5-2E3D5EE10B6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246813" y="2998632"/>
            <a:ext cx="4648200" cy="261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843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Streamlit</a:t>
            </a:r>
            <a:r>
              <a:rPr lang="en-US" dirty="0"/>
              <a:t> Application</a:t>
            </a:r>
          </a:p>
        </p:txBody>
      </p:sp>
    </p:spTree>
    <p:extLst>
      <p:ext uri="{BB962C8B-B14F-4D97-AF65-F5344CB8AC3E}">
        <p14:creationId xmlns:p14="http://schemas.microsoft.com/office/powerpoint/2010/main" val="371841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40566C-42E7-325E-6AF4-65BD68246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12" y="914400"/>
            <a:ext cx="4874617" cy="27406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5D3226-CC37-CB91-AA3A-BB3169225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12" y="914400"/>
            <a:ext cx="5158249" cy="29000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487266-2BD2-197D-5EA1-7A0E749F83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0606" y="4030056"/>
            <a:ext cx="5027612" cy="282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311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2" y="381000"/>
            <a:ext cx="9601200" cy="1143000"/>
          </a:xfrm>
        </p:spPr>
        <p:txBody>
          <a:bodyPr anchor="b">
            <a:normAutofit/>
          </a:bodyPr>
          <a:lstStyle/>
          <a:p>
            <a:r>
              <a:rPr lang="en-US" dirty="0"/>
              <a:t>Deployment &amp; Production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F25E7B7-3CF7-BC6B-9C65-0AA7772D31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3814" y="1828800"/>
            <a:ext cx="9601200" cy="43434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CI/CD 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Automatic sync between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GitHub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and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</a:rPr>
              <a:t>Streamlit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 Cloud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Scalability: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Responsive design for cross-platform accessibility.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URL :</a:t>
            </a:r>
            <a:r>
              <a:rPr lang="en-US" altLang="en-US" b="1" dirty="0"/>
              <a:t> https://emiprediction2026mini.streamlit.app/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49502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F4ED6-A703-225E-3B56-C416A517D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E60DD-7D95-F7DD-4D09-265F4FC3C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381000"/>
            <a:ext cx="9601200" cy="1143000"/>
          </a:xfrm>
        </p:spPr>
        <p:txBody>
          <a:bodyPr anchor="b">
            <a:normAutofit/>
          </a:bodyPr>
          <a:lstStyle/>
          <a:p>
            <a:r>
              <a:rPr lang="en-US" dirty="0"/>
              <a:t>Business Impact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F07E1D6-4FDE-9732-6F33-DFF5D755F6D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293813" y="1828800"/>
            <a:ext cx="4648199" cy="43434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Efficiency: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80% reduction in manual underwriting time.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Risk Management: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Real-time identification of "High Risk" applicants.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Accuracy: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Standardized decision-making across all 5 loan scenarios.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67ECA1D-A6AE-BDB3-5983-3761A9C9A27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46812" y="2693194"/>
            <a:ext cx="4648202" cy="261461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385293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6526B06A-67CB-31FB-150C-D02AF653FB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3675" y="68263"/>
            <a:ext cx="6721475" cy="6721475"/>
          </a:xfrm>
          <a:noFill/>
        </p:spPr>
      </p:pic>
    </p:spTree>
    <p:extLst>
      <p:ext uri="{BB962C8B-B14F-4D97-AF65-F5344CB8AC3E}">
        <p14:creationId xmlns:p14="http://schemas.microsoft.com/office/powerpoint/2010/main" val="235593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oodgrain 16x9">
  <a:themeElements>
    <a:clrScheme name="Woodgrain_16x9">
      <a:dk1>
        <a:sysClr val="windowText" lastClr="000000"/>
      </a:dk1>
      <a:lt1>
        <a:sysClr val="window" lastClr="FFFFFF"/>
      </a:lt1>
      <a:dk2>
        <a:srgbClr val="90B365"/>
      </a:dk2>
      <a:lt2>
        <a:srgbClr val="EEECE1"/>
      </a:lt2>
      <a:accent1>
        <a:srgbClr val="4283D2"/>
      </a:accent1>
      <a:accent2>
        <a:srgbClr val="6E9D35"/>
      </a:accent2>
      <a:accent3>
        <a:srgbClr val="DE6742"/>
      </a:accent3>
      <a:accent4>
        <a:srgbClr val="8F73DF"/>
      </a:accent4>
      <a:accent5>
        <a:srgbClr val="CB991B"/>
      </a:accent5>
      <a:accent6>
        <a:srgbClr val="7F7F7F"/>
      </a:accent6>
      <a:hlink>
        <a:srgbClr val="90B365"/>
      </a:hlink>
      <a:folHlink>
        <a:srgbClr val="7F7F7F"/>
      </a:folHlink>
    </a:clrScheme>
    <a:fontScheme name="Century">
      <a:majorFont>
        <a:latin typeface="Century"/>
        <a:ea typeface=""/>
        <a:cs typeface=""/>
      </a:majorFont>
      <a:minorFont>
        <a:latin typeface="Century"/>
        <a:ea typeface=""/>
        <a:cs typeface="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01115" id="{6D802E96-7B24-457C-A326-69AF839D4486}" vid="{C3FFE3C6-9A62-4BEA-9FE0-A8BC12B9BCCA}"/>
    </a:ext>
  </a:extLst>
</a:theme>
</file>

<file path=ppt/theme/theme2.xml><?xml version="1.0" encoding="utf-8"?>
<a:theme xmlns:a="http://schemas.openxmlformats.org/drawingml/2006/main" name="Office Theme">
  <a:themeElements>
    <a:clrScheme name="Woodgrain_16x9">
      <a:dk1>
        <a:sysClr val="windowText" lastClr="000000"/>
      </a:dk1>
      <a:lt1>
        <a:sysClr val="window" lastClr="FFFFFF"/>
      </a:lt1>
      <a:dk2>
        <a:srgbClr val="90B365"/>
      </a:dk2>
      <a:lt2>
        <a:srgbClr val="EEECE1"/>
      </a:lt2>
      <a:accent1>
        <a:srgbClr val="4283D2"/>
      </a:accent1>
      <a:accent2>
        <a:srgbClr val="6E9D35"/>
      </a:accent2>
      <a:accent3>
        <a:srgbClr val="DE6742"/>
      </a:accent3>
      <a:accent4>
        <a:srgbClr val="8F73DF"/>
      </a:accent4>
      <a:accent5>
        <a:srgbClr val="CB991B"/>
      </a:accent5>
      <a:accent6>
        <a:srgbClr val="7F7F7F"/>
      </a:accent6>
      <a:hlink>
        <a:srgbClr val="90B365"/>
      </a:hlink>
      <a:folHlink>
        <a:srgbClr val="7F7F7F"/>
      </a:folHlink>
    </a:clrScheme>
    <a:fontScheme name="Century">
      <a:majorFont>
        <a:latin typeface="Century"/>
        <a:ea typeface=""/>
        <a:cs typeface=""/>
      </a:majorFont>
      <a:minorFont>
        <a:latin typeface="Century"/>
        <a:ea typeface=""/>
        <a:cs typeface="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Woodgrain_16x9">
      <a:dk1>
        <a:sysClr val="windowText" lastClr="000000"/>
      </a:dk1>
      <a:lt1>
        <a:sysClr val="window" lastClr="FFFFFF"/>
      </a:lt1>
      <a:dk2>
        <a:srgbClr val="90B365"/>
      </a:dk2>
      <a:lt2>
        <a:srgbClr val="EEECE1"/>
      </a:lt2>
      <a:accent1>
        <a:srgbClr val="4283D2"/>
      </a:accent1>
      <a:accent2>
        <a:srgbClr val="6E9D35"/>
      </a:accent2>
      <a:accent3>
        <a:srgbClr val="DE6742"/>
      </a:accent3>
      <a:accent4>
        <a:srgbClr val="8F73DF"/>
      </a:accent4>
      <a:accent5>
        <a:srgbClr val="CB991B"/>
      </a:accent5>
      <a:accent6>
        <a:srgbClr val="7F7F7F"/>
      </a:accent6>
      <a:hlink>
        <a:srgbClr val="90B365"/>
      </a:hlink>
      <a:folHlink>
        <a:srgbClr val="7F7F7F"/>
      </a:folHlink>
    </a:clrScheme>
    <a:fontScheme name="Century">
      <a:majorFont>
        <a:latin typeface="Century"/>
        <a:ea typeface=""/>
        <a:cs typeface=""/>
      </a:majorFont>
      <a:minorFont>
        <a:latin typeface="Century"/>
        <a:ea typeface=""/>
        <a:cs typeface="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false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1360511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2011-12-12T13:37:00+00:00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2035-01-01T08:00:00+00:00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TP102801114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706531</LocLastLocAttemptVersionLookup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REDMOND\v-soujap</DisplayName>
        <AccountId>1954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14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6EB9514F-6A45-47F4-BC6D-A865E29717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C20563B-C646-42AF-9D0D-76DF086793C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335E791-7449-4708-8DE9-182EC4D8A134}">
  <ds:schemaRefs>
    <ds:schemaRef ds:uri="4873beb7-5857-4685-be1f-d57550cc96cc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Woodgrain nature presentation (widescreen)</Template>
  <TotalTime>34</TotalTime>
  <Words>373</Words>
  <Application>Microsoft Office PowerPoint</Application>
  <PresentationFormat>Custom</PresentationFormat>
  <Paragraphs>46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Century</vt:lpstr>
      <vt:lpstr>Woodgrain 16x9</vt:lpstr>
      <vt:lpstr>EMI Predict AI</vt:lpstr>
      <vt:lpstr>Problem Statement</vt:lpstr>
      <vt:lpstr>Project Architecture</vt:lpstr>
      <vt:lpstr>Data Processing &amp; EDA</vt:lpstr>
      <vt:lpstr>EDA </vt:lpstr>
      <vt:lpstr>Feature Engineering</vt:lpstr>
      <vt:lpstr>MLflow Experiment Tracking</vt:lpstr>
      <vt:lpstr>Model Evaluation</vt:lpstr>
      <vt:lpstr>ML Trainging Runs</vt:lpstr>
      <vt:lpstr>The Streamlit Application</vt:lpstr>
      <vt:lpstr>PowerPoint Presentation</vt:lpstr>
      <vt:lpstr>Deployment &amp; Production</vt:lpstr>
      <vt:lpstr>Business Impact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Deepika  Sunilkumar</dc:creator>
  <cp:lastModifiedBy>Deepika  Sunilkumar</cp:lastModifiedBy>
  <cp:revision>1</cp:revision>
  <dcterms:created xsi:type="dcterms:W3CDTF">2026-04-24T17:07:51Z</dcterms:created>
  <dcterms:modified xsi:type="dcterms:W3CDTF">2026-04-24T17:42:02Z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